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e38aa3-bbd7-9833-be17-25fe030b4a39}">
          <p14:sldIdLst>
            <p14:sldId id="256"/>
            <p14:sldId id="257"/>
          </p14:sldIdLst>
        </p14:section>
        <p14:section name="Words are rare" id="{b098faaa-fba7-51b5-9e63-eb6e8d84ecc8}">
          <p14:sldIdLst>
            <p14:sldId id="258"/>
            <p14:sldId id="259"/>
            <p14:sldId id="260"/>
          </p14:sldIdLst>
        </p14:section>
        <p14:section name="SynthID and the law" id="{1f203c95-4c57-3963-3bd0-928fd72bd2a8}">
          <p14:sldIdLst>
            <p14:sldId id="261"/>
            <p14:sldId id="262"/>
          </p14:sldIdLst>
        </p14:section>
        <p14:section name="How it works" id="{a254fed8-a356-2712-4712-dd5f4ce9a427}">
          <p14:sldIdLst>
            <p14:sldId id="263"/>
            <p14:sldId id="264"/>
            <p14:sldId id="265"/>
            <p14:sldId id="266"/>
          </p14:sldIdLst>
        </p14:section>
        <p14:section name="Hands on" id="{024b505a-21c5-57f1-c909-2ace57d2f515}">
          <p14:sldIdLst>
            <p14:sldId id="267"/>
            <p14:sldId id="268"/>
            <p14:sldId id="269"/>
            <p14:sldId id="270"/>
          </p14:sldIdLst>
        </p14:section>
        <p14:section name="Wrap-up" id="{b9023e9d-8878-6b16-4ff1-a652047323c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look at how Google watermarks the text its AI writes, why regulators now require that, and then you will test the watermark yourselves with a live tool on our own server. Have the tool URL on the board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first three segments brisk. The two activities are where the learning happens; protect their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2 minutes. Ask for a show of hands: who got zero results? Usually everyone. If someone gets a hit, it is almost always a very common phrase ("I went to the gym this morning"). The point: specific sentences are effectively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language is far more constrained than free choice, but the conclusion holds: beyond a handful of words, sentences are effectively unique. Grammar removes most combinations, but even one plausible choice per word in ten positions is 2^10 = 1,024 different sentences that all say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The warm-up showed that word choice carries enormous freedom. SynthID spends a little of that freedom to leave a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last row now and again at the end. The most common misconception is that this detects AI writing in general. It detects one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EU rule is the one to dwell on. It does not name SynthID or any technique, but watermarking is the main way providers meet "machine-readable and detectable". Mention that the EU is also drafting a code of practice on how to mark content. Dates: the AI Act's transparency obligations apply from 2 August 2026, so this has been live for a few months as of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hashing abstract: a deterministic function that turns the same inputs into the same bits, but looks random without the key. The lab exposes the 30 numbers on the Generator &amp; key tab so students can see it is just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numbers. Walk through it: the model still picks randomly, but the dice are loaded toward candidates the key "likes". Over hundreds of tokens, the chosen tokens have more 1-bits than chance. When one candidate is near-certain (say 99%), the watermark has nothing to work with, which is why lists, code and boilerplate watermark poorly and stories watermark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z-score is how many standard deviations above chance the bit average sits. No model is needed to detect; it is a tokenizer and some hashing, so it runs in milliseconds. Our tool draws a bell curve of what unwatermarked text scores and drops a marker where your text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of what they are about to see. This is the honest limitation of every text watermark: paraphrasing defeats it. The question for discussion later is whether that matters for the typical case (copy-paste) versus the determined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URL on the board. Everyone must be on the same network as the server. The page keeps your text only in your own browser, so people do not interfere with each other. The server can score a whole class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instructor should also share this passage as plain text (chat, LMS, or a link) because copying from a projected slide is slow. It is the lab's own output for the example story "The Keeper's Log" with seed 11 and target length 80. If it ever scores low, regenerate a passage from the Generator &amp; key tab before class and replace it here. Ask: which words are red? Note that no single word proves anything; the verdict comes from 100 tokens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Circulate. The "Compare with original" tab shows which token runs survived if the story is still in the generator box. Step 5 is the key lesson: this is a key detector, not an AI detector. Ask people to shout out their z-score after step 1 and after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Generation takes about 5 seconds each on our server, and requests queue, so encourage people to look at the tournament view while they wait. Points to draw out: higher temperature means more choice, so a stronger watermark; short text gives a weak score; the unwatermarked control looks identical to a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Take one answer each. Good closing line: the watermark is not in the ideas; it is in the exact words. That is both its strength (invisible, cheap to check) and its weakness (easy to wash out by rewriting).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804672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rtlCol="0"/>
          <a:lstStyle>
            <a:lvl1pPr algn="l" indent="0" marL="0">
              <a:spcAft>
                <a:spcPts val="800"/>
              </a:spcAft>
              <a:buNone/>
              <a:defRPr lang="en-US" sz="1600" dirty="0">
                <a:solidFill>
                  <a:schemeClr val="tx1"/>
                </a:solidFill>
              </a:defRPr>
            </a:lvl1pPr>
          </a:lstStyle>
          <a:p>
            <a:pPr algn="l" indent="0" marL="0">
              <a:spcAft>
                <a:spcPts val="800"/>
              </a:spcAft>
              <a:buNone/>
            </a:pP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AB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4" name="Text 0"/>
          <p:cNvSpPr/>
          <p:nvPr>
            <p:ph idx="102" type="body" hasCustomPrompt="1"/>
          </p:nvPr>
        </p:nvSpPr>
        <p:spPr>
          <a:xfrm>
            <a:off x="548640" y="4434840"/>
            <a:ext cx="8046720" cy="320040"/>
          </a:xfrm>
          <a:prstGeom prst="rect">
            <a:avLst/>
          </a:prstGeom>
          <a:noFill/>
          <a:ln/>
        </p:spPr>
        <p:txBody>
          <a:bodyPr wrap="square" rtlCol="0"/>
          <a:lstStyle>
            <a:lvl1pPr algn="l" indent="0" marL="0">
              <a:buNone/>
              <a:defRPr lang="en-US" sz="1100" dirty="0">
                <a:solidFill>
                  <a:schemeClr val="accent3"/>
                </a:solidFill>
              </a:defRPr>
            </a:lvl1pPr>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SynthID: the hidden signature in AI-written text</a:t>
            </a:r>
            <a:endParaRPr lang="en-US" sz="4000" dirty="0"/>
          </a:p>
        </p:txBody>
      </p:sp>
      <p:sp>
        <p:nvSpPr>
          <p:cNvPr id="3" name="Text 0"/>
          <p:cNvSpPr/>
          <p:nvPr>
            <p:ph idx="101" type="body" hasCustomPrompt="1"/>
          </p:nvPr>
        </p:nvSpPr>
        <p:spPr>
          <a:xfrm>
            <a:off x="548640" y="2926080"/>
            <a:ext cx="8046720" cy="1097280"/>
          </a:xfrm>
          <a:prstGeom prst="rect">
            <a:avLst/>
          </a:prstGeom>
          <a:noFill/>
          <a:ln/>
        </p:spPr>
        <p:txBody>
          <a:bodyPr wrap="square" lIns="0" tIns="0" rIns="0" bIns="0" rtlCol="0" anchor="t"/>
          <a:lstStyle/>
          <a:p>
            <a:pPr algn="l" indent="0" marL="0">
              <a:buNone/>
            </a:pPr>
            <a:r>
              <a:rPr lang="en-US" sz="1800" dirty="0">
                <a:solidFill>
                  <a:schemeClr val="bg2"/>
                </a:solidFill>
              </a:rPr>
              <a:t>A 30-minute hands-on lesson. Bring a laptop; you will paste, edit and generate text yourself.</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Today, in 30 minutes</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005840"/>
                <a:gridCol w="3840480"/>
                <a:gridCol w="3200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Minutes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do</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0 - 3</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How rare is a sentence?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Search a sentence of your own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3 - 7</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What SynthID is, and why the EU requires it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Listen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7 - 13</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How the watermark gets in, and how it is found</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Listen, ask</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13 - 15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Open the live tool</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Open the URL in your browser</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15 - 21</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Activity: paste, then edit the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Watch the watermark fade as you edit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21 - 27</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Activity: generate your own watermarked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Explore the generator tab</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27 - 30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Discussion and wrap-up</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Three questions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endParaRPr lang="en-US" sz="1500" dirty="0"/>
          </a:p>
        </p:txBody>
      </p:sp>
      <p:sp>
        <p:nvSpPr>
          <p:cNvPr id="6"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Warm-up: how rare is a sentence?</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marL="342900" indent="-342900">
              <a:spcAft>
                <a:spcPts val="800"/>
              </a:spcAft>
              <a:buSzPct val="100000"/>
              <a:buChar char="•"/>
            </a:pPr>
            <a:r>
              <a:rPr lang="en-US" sz="1600" b="1" dirty="0">
                <a:solidFill>
                  <a:schemeClr val="tx1"/>
                </a:solidFill>
              </a:rPr>
              <a:t>Write a sentence of six or more words about what you did this morning.</a:t>
            </a:r>
            <a:endParaRPr lang="en-US" sz="1600" dirty="0"/>
          </a:p>
          <a:p>
            <a:pPr algn="l" marL="342900" indent="-342900">
              <a:spcAft>
                <a:spcPts val="800"/>
              </a:spcAft>
              <a:buSzPct val="100000"/>
              <a:buChar char="•"/>
            </a:pPr>
            <a:r>
              <a:rPr lang="en-US" sz="1600" dirty="0">
                <a:solidFill>
                  <a:schemeClr val="tx1"/>
                </a:solidFill>
              </a:rPr>
              <a:t>Put it in quotes and search for it on the web.</a:t>
            </a:r>
            <a:endParaRPr lang="en-US" sz="1600" dirty="0"/>
          </a:p>
          <a:p>
            <a:pPr algn="l" marL="342900" indent="-342900">
              <a:spcAft>
                <a:spcPts val="800"/>
              </a:spcAft>
              <a:buSzPct val="100000"/>
              <a:buChar char="•"/>
            </a:pPr>
            <a:r>
              <a:rPr lang="en-US" sz="1600" dirty="0">
                <a:solidFill>
                  <a:schemeClr val="tx1"/>
                </a:solidFill>
              </a:rPr>
              <a:t>Almost nobody gets a hit. Your sentence has probably never been written before.</a:t>
            </a:r>
            <a:endParaRPr lang="en-US" sz="1600" dirty="0"/>
          </a:p>
          <a:p>
            <a:pPr algn="l" marL="342900" indent="-342900">
              <a:spcAft>
                <a:spcPts val="800"/>
              </a:spcAft>
              <a:buSzPct val="100000"/>
              <a:buChar char="•"/>
            </a:pPr>
            <a:r>
              <a:rPr lang="en-US" sz="1600" dirty="0">
                <a:solidFill>
                  <a:schemeClr val="tx1"/>
                </a:solidFill>
              </a:rPr>
              <a:t>Now count: a 6-word sentence has 6 chances to pick a word, and each pick has thousands of options.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Possible word sequences explode</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Assume a modest working vocabulary of 20,000 words and pick each word freely: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828800"/>
                <a:gridCol w="256032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Words in a row</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Possible sequences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Compare with</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20,000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Seats in a small arena</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400 million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People in the EU</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8 trillion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1,000 times the human population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3.2 x 10^21</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Grains of sand on Earth, several times over</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10^43</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More than atoms in a million Earths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r>
              <a:rPr lang="en-US" sz="1100" dirty="0">
                <a:solidFill>
                  <a:schemeClr val="accent3"/>
                </a:solidFill>
              </a:rPr>
              <a:t>Rough figures: real grammar removes most combinations, yet the conclusion survives.</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Why this matters for watermarking</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marL="342900" indent="-342900">
              <a:spcAft>
                <a:spcPts val="800"/>
              </a:spcAft>
              <a:buSzPct val="100000"/>
              <a:buChar char="•"/>
            </a:pPr>
            <a:r>
              <a:rPr lang="en-US" sz="1600" b="1" dirty="0">
                <a:solidFill>
                  <a:schemeClr val="tx1"/>
                </a:solidFill>
              </a:rPr>
              <a:t>At almost every point in a sentence, a writer has several good next words.</a:t>
            </a:r>
            <a:endParaRPr lang="en-US" sz="1600" dirty="0"/>
          </a:p>
          <a:p>
            <a:pPr algn="l" marL="342900" indent="-342900">
              <a:spcAft>
                <a:spcPts val="800"/>
              </a:spcAft>
              <a:buSzPct val="100000"/>
              <a:buChar char="•"/>
            </a:pPr>
            <a:r>
              <a:rPr lang="en-US" sz="1600" dirty="0">
                <a:solidFill>
                  <a:schemeClr val="tx1"/>
                </a:solidFill>
              </a:rPr>
              <a:t>"The light was on" could have been "The lamp was lit" or "The beacon still burned".</a:t>
            </a:r>
            <a:endParaRPr lang="en-US" sz="1600" dirty="0"/>
          </a:p>
          <a:p>
            <a:pPr algn="l" marL="342900" indent="-342900">
              <a:spcAft>
                <a:spcPts val="800"/>
              </a:spcAft>
              <a:buSzPct val="100000"/>
              <a:buChar char="•"/>
            </a:pPr>
            <a:r>
              <a:rPr lang="en-US" sz="1600" dirty="0">
                <a:solidFill>
                  <a:schemeClr val="tx1"/>
                </a:solidFill>
              </a:rPr>
              <a:t>A language model faces the same choices, and it makes them by rolling weighted dice.</a:t>
            </a:r>
            <a:endParaRPr lang="en-US" sz="1600" dirty="0"/>
          </a:p>
          <a:p>
            <a:pPr algn="l" marL="342900" indent="-342900">
              <a:spcAft>
                <a:spcPts val="800"/>
              </a:spcAft>
              <a:buSzPct val="100000"/>
              <a:buChar char="•"/>
            </a:pPr>
            <a:r>
              <a:rPr lang="en-US" sz="1600" dirty="0">
                <a:solidFill>
                  <a:schemeClr val="tx1"/>
                </a:solidFill>
              </a:rPr>
              <a:t>If you could bias those dice with a secret pattern, the text would read normally, but someone who knows the pattern could spot it.</a:t>
            </a:r>
            <a:endParaRPr lang="en-US" sz="1600" dirty="0"/>
          </a:p>
          <a:p>
            <a:pPr algn="l" marL="342900" indent="-342900">
              <a:spcAft>
                <a:spcPts val="800"/>
              </a:spcAft>
              <a:buSzPct val="100000"/>
              <a:buChar char="•"/>
            </a:pPr>
            <a:r>
              <a:rPr lang="en-US" sz="1600" b="1" dirty="0">
                <a:solidFill>
                  <a:schemeClr val="tx1"/>
                </a:solidFill>
              </a:rPr>
              <a:t>That is exactly what SynthID does.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What is SynthID?</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Google DeepMind's family of watermarks for AI-generated images, audio, video and text.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828800"/>
                <a:gridCol w="62179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Who</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Google DeepMind, published in the journal Nature in October 2024</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Where it runs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Inside Gemini, Google's chatbot, since 2024; tested on about 20 million live responses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What it changes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Only the sampling step: which of several plausible next words is chosen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Who can detect it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Only someone holding the secret key used at generation time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Open source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Yes: reference code on GitHub and built into the Hugging Face transformers library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What it is not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Not an "AI detector". Text from a model without the key reads as ordinary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r>
              <a:rPr lang="en-US" sz="1100" dirty="0">
                <a:solidFill>
                  <a:schemeClr val="accent3"/>
                </a:solidFill>
              </a:rPr>
              <a:t>Dathathri et al., "Scalable watermarking for identifying large language model outputs", Nature 634 (2024).</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Regulators now require watermarks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377440"/>
                <a:gridCol w="4480560"/>
                <a:gridCol w="11887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requires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Since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50292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EU AI Act, Article 50(2)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Providers of AI that generates text, images, audio or video must mark outputs in a machine-readable way so they are detectable as artificially generated</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 Aug 2026</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0292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California SB 942 (AI Transparency Act)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Large generative-AI providers must offer a detection tool and embed latent disclosures in content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0292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China, labelling measures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Explicit labels plus implicit (embedded) marks on AI-generated content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 Sep 2025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4"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r>
              <a:rPr lang="en-US" sz="1100" dirty="0">
                <a:solidFill>
                  <a:schemeClr val="accent3"/>
                </a:solidFill>
              </a:rPr>
              <a:t>Article 50 does not prescribe a technique; watermarking is the leading way to satisfy it.</a:t>
            </a:r>
            <a:endParaRPr lang="en-US" sz="1100" dirty="0"/>
          </a:p>
        </p:txBody>
      </p:sp>
      <p:sp>
        <p:nvSpPr>
          <p:cNvPr id="6"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Step 1: tokens and a secret key</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marL="342900" indent="-342900">
              <a:spcAft>
                <a:spcPts val="800"/>
              </a:spcAft>
              <a:buSzPct val="100000"/>
              <a:buChar char="•"/>
            </a:pPr>
            <a:r>
              <a:rPr lang="en-US" sz="1600" b="1" dirty="0">
                <a:solidFill>
                  <a:schemeClr val="tx1"/>
                </a:solidFill>
              </a:rPr>
              <a:t>Tokens. </a:t>
            </a:r>
            <a:pPr algn="l" indent="0" marL="0">
              <a:spcAft>
                <a:spcPts val="800"/>
              </a:spcAft>
              <a:buNone/>
            </a:pPr>
            <a:r>
              <a:rPr lang="en-US" sz="1600" dirty="0">
                <a:solidFill>
                  <a:schemeClr val="tx1"/>
                </a:solidFill>
              </a:rPr>
              <a:t>A model writes one token at a time: a word or a piece of a word.</a:t>
            </a:r>
            <a:endParaRPr lang="en-US" sz="1600" dirty="0"/>
          </a:p>
          <a:p>
            <a:pPr algn="l" marL="342900" indent="-342900">
              <a:spcAft>
                <a:spcPts val="800"/>
              </a:spcAft>
              <a:buSzPct val="100000"/>
              <a:buChar char="•"/>
            </a:pPr>
            <a:r>
              <a:rPr lang="en-US" sz="1600" b="1" dirty="0">
                <a:solidFill>
                  <a:schemeClr val="tx1"/>
                </a:solidFill>
              </a:rPr>
              <a:t>Context. </a:t>
            </a:r>
            <a:pPr algn="l" indent="0" marL="0">
              <a:spcAft>
                <a:spcPts val="800"/>
              </a:spcAft>
              <a:buNone/>
            </a:pPr>
            <a:r>
              <a:rPr lang="en-US" sz="1600" dirty="0">
                <a:solidFill>
                  <a:schemeClr val="tx1"/>
                </a:solidFill>
              </a:rPr>
              <a:t>Before choosing the next token, it looks back at the last few tokens it just wrote (2 in our lab).</a:t>
            </a:r>
            <a:endParaRPr lang="en-US" sz="1600" dirty="0"/>
          </a:p>
          <a:p>
            <a:pPr algn="l" marL="342900" indent="-342900">
              <a:spcAft>
                <a:spcPts val="800"/>
              </a:spcAft>
              <a:buSzPct val="100000"/>
              <a:buChar char="•"/>
            </a:pPr>
            <a:r>
              <a:rPr lang="en-US" sz="1600" b="1" dirty="0">
                <a:solidFill>
                  <a:schemeClr val="tx1"/>
                </a:solidFill>
              </a:rPr>
              <a:t>Secret key. </a:t>
            </a:r>
            <a:pPr algn="l" indent="0" marL="0">
              <a:spcAft>
                <a:spcPts val="800"/>
              </a:spcAft>
              <a:buNone/>
            </a:pPr>
            <a:r>
              <a:rPr lang="en-US" sz="1600" dirty="0">
                <a:solidFill>
                  <a:schemeClr val="tx1"/>
                </a:solidFill>
              </a:rPr>
              <a:t>A list of 30 random numbers that only the provider knows.</a:t>
            </a:r>
            <a:endParaRPr lang="en-US" sz="1600" dirty="0"/>
          </a:p>
          <a:p>
            <a:pPr algn="l" marL="342900" indent="-342900">
              <a:spcAft>
                <a:spcPts val="800"/>
              </a:spcAft>
              <a:buSzPct val="100000"/>
              <a:buChar char="•"/>
            </a:pPr>
            <a:r>
              <a:rPr lang="en-US" sz="1600" b="1" dirty="0">
                <a:solidFill>
                  <a:schemeClr val="tx1"/>
                </a:solidFill>
              </a:rPr>
              <a:t>Coin flips (g-values). </a:t>
            </a:r>
            <a:pPr algn="l" indent="0" marL="0">
              <a:spcAft>
                <a:spcPts val="800"/>
              </a:spcAft>
              <a:buNone/>
            </a:pPr>
            <a:r>
              <a:rPr lang="en-US" sz="1600" dirty="0">
                <a:solidFill>
                  <a:schemeClr val="tx1"/>
                </a:solidFill>
              </a:rPr>
              <a:t>For every candidate next token, a hash of (recent tokens + candidate + key number) produces a 0 or 1. Thirty keys, thirty bits per candidate.</a:t>
            </a:r>
            <a:endParaRPr lang="en-US" sz="1600" dirty="0"/>
          </a:p>
          <a:p>
            <a:pPr algn="l" marL="342900" indent="-342900">
              <a:spcAft>
                <a:spcPts val="800"/>
              </a:spcAft>
              <a:buSzPct val="100000"/>
              <a:buChar char="•"/>
            </a:pPr>
            <a:r>
              <a:rPr lang="en-US" sz="1600" b="1" dirty="0">
                <a:solidFill>
                  <a:schemeClr val="tx1"/>
                </a:solidFill>
              </a:rPr>
              <a:t>Without the key, </a:t>
            </a:r>
            <a:pPr algn="l" indent="0" marL="0">
              <a:spcAft>
                <a:spcPts val="800"/>
              </a:spcAft>
              <a:buNone/>
            </a:pPr>
            <a:r>
              <a:rPr lang="en-US" sz="1600" dirty="0">
                <a:solidFill>
                  <a:schemeClr val="tx1"/>
                </a:solidFill>
              </a:rPr>
              <a:t>these bits look like fair coin flips.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Step 2: the tournament loads the dice</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At one step the model has these candidates. The watermark reshapes their chances toward candidates whose early bits are 1:</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828800"/>
                <a:gridCol w="2011680"/>
                <a:gridCol w="219456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Candidate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Model's probability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First 8 key bits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After watermark</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lamp</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1 1 0 1 1 0 1 0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b="1" dirty="0">
                          <a:solidFill>
                            <a:srgbClr val="1B1B1B"/>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light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0 1 0 0 1 1 0 0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beacon</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0 0 1 0 0 1 1 0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fire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1 0 0 0 0 0 1 1</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r>
              <a:rPr lang="en-US" sz="1100" dirty="0">
                <a:solidFill>
                  <a:schemeClr val="accent3"/>
                </a:solidFill>
              </a:rPr>
              <a:t>Illustrative numbers. The model's knowledge, the prompt and the meaning are untouched; only the dice are loaded.</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Step 3: detection is just counting</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The detector needs only the text and the key. It recomputes every token's bits and asks: are there more 1s than chance?</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2377440"/>
                <a:gridCol w="2743200"/>
                <a:gridCol w="29260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Unwatermarked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Watermarked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Average bit (g-value)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0.50, like fair coins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Noticeably above 0.50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z-score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Around 0, rarely above 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Grows with length: ~5 at 50 words, ~9 at 75, 13+ at 150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Verdict in our tool</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z &lt; 2: no watermark</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z &gt;= 4: watermark detected (2 to 4: weak)</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Chance of a false alarm at z = 4</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About 3 in 100,000</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6"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What weakens or breaks the watermark</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The signal lives in exact runs of tokens, not in meaning. Edits that break those runs erase it:</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4023360"/>
                <a:gridCol w="40233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do to the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detector sees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Paste it verbatim</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Strong: watermark detected</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Change 5 to 10 words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Weaker, usually still detected or "weak"</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Reorder sentences, swap half the words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Weak or gone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Rewrite it in your own words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Gone, even though the story is the same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Shorten it below ~30 words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Too short to decide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Score it with the wrong key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Nothing, on any text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6"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Open the live tool</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In your browser, in a new tab, open:  http://&lt;spark-ip&gt;:8090</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828800"/>
                <a:gridCol w="62179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Tab</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45720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Demo</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The detector. Paste text; it is scored as you type. Shows the verdict, the bell curve, a word heatmap, and a wrong-key test</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45720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Generator &amp; key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Paraphrases a story with the watermark on or off, shows the tournament for any token, and reveals the secret key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457200">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How it works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 written explainer you can read later</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r>
              <a:rPr lang="en-US" sz="1100" dirty="0">
                <a:solidFill>
                  <a:schemeClr val="accent3"/>
                </a:solidFill>
              </a:rPr>
              <a:t>Everything runs on our own server. Nothing you paste leaves the room.</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Activity 1: paste this into the detector</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indent="0" marL="0">
              <a:spcAft>
                <a:spcPts val="800"/>
              </a:spcAft>
              <a:buNone/>
            </a:pPr>
            <a:r>
              <a:rPr lang="en-US" sz="1600" dirty="0">
                <a:solidFill>
                  <a:schemeClr val="tx1"/>
                </a:solidFill>
              </a:rPr>
              <a:t>Copy the passage below exactly as it is and paste it into the Detector box on the Demo tab.</a:t>
            </a:r>
            <a:endParaRPr lang="en-US" sz="1600" dirty="0"/>
          </a:p>
          <a:p>
            <a:pPr algn="l" indent="0" marL="0">
              <a:spcAft>
                <a:spcPts val="1000"/>
              </a:spcAft>
              <a:buNone/>
            </a:pPr>
            <a:r>
              <a:rPr lang="en-US" sz="1400" i="1" dirty="0">
                <a:solidFill>
                  <a:srgbClr val="0F4C5C"/>
                </a:solidFill>
              </a:rPr>
              <a:t>Mara discovered the lighthouse keeper's logbook, yellowed membranes damp with the sea. A single entry read, 'The light was on. They did not turn.' That night as she lit the oil lamp, her heart thudded. Looming stairs echoed her descent, each step crunching beneath her. Nervous breaths fogged in the cool air. Would they come? Through the fogged glass, the light seemed steady, passive. Her hands trembled as she turned the key in the lock.</a:t>
            </a:r>
            <a:endParaRPr lang="en-US" sz="1600" dirty="0"/>
          </a:p>
          <a:p>
            <a:pPr algn="l" indent="0" marL="0">
              <a:spcAft>
                <a:spcPts val="800"/>
              </a:spcAft>
              <a:buNone/>
            </a:pPr>
            <a:r>
              <a:rPr lang="en-US" sz="1600" dirty="0">
                <a:solidFill>
                  <a:schemeClr val="tx1"/>
                </a:solidFill>
              </a:rPr>
              <a:t>You should see "Watermark detected" with a z-score near 9. Hover a word to see its coin flips.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Activity 2: edit it and watch it fade</a:t>
            </a:r>
            <a:endParaRPr lang="en-US" sz="2800" dirty="0"/>
          </a:p>
        </p:txBody>
      </p:sp>
      <p:sp>
        <p:nvSpPr>
          <p:cNvPr id="3"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r>
              <a:rPr lang="en-US" sz="1500" dirty="0">
                <a:solidFill>
                  <a:schemeClr val="tx1"/>
                </a:solidFill>
              </a:rPr>
              <a:t>Work in the same box. After each step, read the verdict and the z-score.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731520"/>
                <a:gridCol w="3840480"/>
                <a:gridCol w="3474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Watch for</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Change five words to synonyms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z drops a little; still detected</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Swap the order of two sentences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Only the boundaries lose signal</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Rewrite one sentence entirely in your own words</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That sentence goes blue or grey on the heatmap</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Rewrite the whole passage from memory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"No watermark". Same story, no signature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10896">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Undo everything, then press "Random key"</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The original passage scores at chance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6"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Activity 3: generate your own text</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marL="342900" indent="-342900">
              <a:spcAft>
                <a:spcPts val="800"/>
              </a:spcAft>
              <a:buSzPct val="100000"/>
              <a:buChar char="•"/>
            </a:pPr>
            <a:r>
              <a:rPr lang="en-US" sz="1600" b="1" dirty="0">
                <a:solidFill>
                  <a:schemeClr val="tx1"/>
                </a:solidFill>
              </a:rPr>
              <a:t>Open the Generator &amp; key tab.</a:t>
            </a:r>
            <a:endParaRPr lang="en-US" sz="1600" dirty="0"/>
          </a:p>
          <a:p>
            <a:pPr algn="l" marL="342900" indent="-342900">
              <a:spcAft>
                <a:spcPts val="800"/>
              </a:spcAft>
              <a:buSzPct val="100000"/>
              <a:buChar char="•"/>
            </a:pPr>
            <a:r>
              <a:rPr lang="en-US" sz="1600" dirty="0">
                <a:solidFill>
                  <a:schemeClr val="tx1"/>
                </a:solidFill>
              </a:rPr>
              <a:t>Pick an example story or paste any 50-word story of your own.</a:t>
            </a:r>
            <a:endParaRPr lang="en-US" sz="1600" dirty="0"/>
          </a:p>
          <a:p>
            <a:pPr algn="l" marL="342900" indent="-342900">
              <a:spcAft>
                <a:spcPts val="800"/>
              </a:spcAft>
              <a:buSzPct val="100000"/>
              <a:buChar char="•"/>
            </a:pPr>
            <a:r>
              <a:rPr lang="en-US" sz="1600" dirty="0">
                <a:solidFill>
                  <a:schemeClr val="tx1"/>
                </a:solidFill>
              </a:rPr>
              <a:t>Press Paraphrase. The output is copied into the detector automatically.</a:t>
            </a:r>
            <a:endParaRPr lang="en-US" sz="1600" dirty="0"/>
          </a:p>
          <a:p>
            <a:pPr algn="l" marL="342900" indent="-342900">
              <a:spcAft>
                <a:spcPts val="800"/>
              </a:spcAft>
              <a:buSzPct val="100000"/>
              <a:buChar char="•"/>
            </a:pPr>
            <a:r>
              <a:rPr lang="en-US" sz="1600" dirty="0">
                <a:solidFill>
                  <a:schemeClr val="tx1"/>
                </a:solidFill>
              </a:rPr>
              <a:t>Click any word in the output to see the tournament that chose it: the model's odds, the key's bits, and the loaded odds.</a:t>
            </a:r>
            <a:endParaRPr lang="en-US" sz="1600" dirty="0"/>
          </a:p>
          <a:p>
            <a:pPr algn="l" marL="342900" indent="-342900">
              <a:spcAft>
                <a:spcPts val="800"/>
              </a:spcAft>
              <a:buSzPct val="100000"/>
              <a:buChar char="•"/>
            </a:pPr>
            <a:r>
              <a:rPr lang="en-US" sz="1600" dirty="0">
                <a:solidFill>
                  <a:schemeClr val="tx1"/>
                </a:solidFill>
              </a:rPr>
              <a:t>Turn the watermark off and paraphrase again. Compare the z-scores.</a:t>
            </a:r>
            <a:endParaRPr lang="en-US" sz="1600" dirty="0"/>
          </a:p>
          <a:p>
            <a:pPr algn="l" marL="342900" indent="-342900">
              <a:spcAft>
                <a:spcPts val="800"/>
              </a:spcAft>
              <a:buSzPct val="100000"/>
              <a:buChar char="•"/>
            </a:pPr>
            <a:r>
              <a:rPr lang="en-US" sz="1600" dirty="0">
                <a:solidFill>
                  <a:schemeClr val="tx1"/>
                </a:solidFill>
              </a:rPr>
              <a:t>Try a longer target length, or a higher temperature, and see what happens to the score.</a:t>
            </a:r>
            <a:endParaRPr lang="en-US" sz="1600" dirty="0"/>
          </a:p>
          <a:p>
            <a:pPr algn="l" marL="342900" indent="-342900">
              <a:spcAft>
                <a:spcPts val="800"/>
              </a:spcAft>
              <a:buSzPct val="100000"/>
              <a:buChar char="•"/>
            </a:pPr>
            <a:r>
              <a:rPr lang="en-US" sz="1600" b="1" dirty="0">
                <a:solidFill>
                  <a:schemeClr val="tx1"/>
                </a:solidFill>
              </a:rPr>
              <a:t>The generator serves one request at a time, so if it says "Generating" for a while, someone else is ahead of you.</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Discussion: three questions</a:t>
            </a:r>
            <a:endParaRPr lang="en-US" sz="2800" dirty="0"/>
          </a:p>
        </p:txBody>
      </p:sp>
      <p:sp>
        <p:nvSpPr>
          <p:cNvPr id="3" name="Text 0"/>
          <p:cNvSpPr/>
          <p:nvPr>
            <p:ph idx="101" type="body" hasCustomPrompt="1"/>
          </p:nvPr>
        </p:nvSpPr>
        <p:spPr>
          <a:xfrm>
            <a:off x="548640" y="1234440"/>
            <a:ext cx="8046720" cy="3383280"/>
          </a:xfrm>
          <a:prstGeom prst="rect">
            <a:avLst/>
          </a:prstGeom>
          <a:noFill/>
          <a:ln/>
        </p:spPr>
        <p:txBody>
          <a:bodyPr wrap="square" lIns="0" tIns="0" rIns="0" bIns="0" rtlCol="0" anchor="t"/>
          <a:lstStyle/>
          <a:p>
            <a:pPr algn="l" marL="342900" indent="-342900">
              <a:spcAft>
                <a:spcPts val="800"/>
              </a:spcAft>
              <a:buSzPct val="100000"/>
              <a:buChar char="•"/>
            </a:pPr>
            <a:r>
              <a:rPr lang="en-US" sz="1600" b="1" dirty="0">
                <a:solidFill>
                  <a:schemeClr val="tx1"/>
                </a:solidFill>
              </a:rPr>
              <a:t>1. Is this an "AI detector"? </a:t>
            </a:r>
            <a:pPr algn="l" indent="0" marL="0">
              <a:spcAft>
                <a:spcPts val="800"/>
              </a:spcAft>
              <a:buNone/>
            </a:pPr>
            <a:r>
              <a:rPr lang="en-US" sz="1600" dirty="0">
                <a:solidFill>
                  <a:schemeClr val="tx1"/>
                </a:solidFill>
              </a:rPr>
              <a:t>What did the random key show you? What would Gemini's text score here?</a:t>
            </a:r>
            <a:endParaRPr lang="en-US" sz="1600" dirty="0"/>
          </a:p>
          <a:p>
            <a:pPr algn="l" marL="342900" indent="-342900">
              <a:spcAft>
                <a:spcPts val="800"/>
              </a:spcAft>
              <a:buSzPct val="100000"/>
              <a:buChar char="•"/>
            </a:pPr>
            <a:r>
              <a:rPr lang="en-US" sz="1600" b="1" dirty="0">
                <a:solidFill>
                  <a:schemeClr val="tx1"/>
                </a:solidFill>
              </a:rPr>
              <a:t>2. Who should hold the key? </a:t>
            </a:r>
            <a:pPr algn="l" indent="0" marL="0">
              <a:spcAft>
                <a:spcPts val="800"/>
              </a:spcAft>
              <a:buNone/>
            </a:pPr>
            <a:r>
              <a:rPr lang="en-US" sz="1600" dirty="0">
                <a:solidFill>
                  <a:schemeClr val="tx1"/>
                </a:solidFill>
              </a:rPr>
              <a:t>Anyone with it can detect the watermark, and also forge it. Should keys be public, shared with regulators, or private?</a:t>
            </a:r>
            <a:endParaRPr lang="en-US" sz="1600" dirty="0"/>
          </a:p>
          <a:p>
            <a:pPr algn="l" marL="342900" indent="-342900">
              <a:spcAft>
                <a:spcPts val="800"/>
              </a:spcAft>
              <a:buSzPct val="100000"/>
              <a:buChar char="•"/>
            </a:pPr>
            <a:r>
              <a:rPr lang="en-US" sz="1600" b="1" dirty="0">
                <a:solidFill>
                  <a:schemeClr val="tx1"/>
                </a:solidFill>
              </a:rPr>
              <a:t>3. Does paraphrasing make watermarks useless? </a:t>
            </a:r>
            <a:pPr algn="l" indent="0" marL="0">
              <a:spcAft>
                <a:spcPts val="800"/>
              </a:spcAft>
              <a:buNone/>
            </a:pPr>
            <a:r>
              <a:rPr lang="en-US" sz="1600" dirty="0">
                <a:solidFill>
                  <a:schemeClr val="tx1"/>
                </a:solidFill>
              </a:rPr>
              <a:t>A full rewrite erased it, but that cost you effort. For whom is the watermark still useful, and for whom is it not?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2800" b="1" dirty="0">
                <a:solidFill>
                  <a:schemeClr val="tx2"/>
                </a:solidFill>
              </a:rPr>
              <a:t>Further reading</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5120640"/>
                <a:gridCol w="29260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0F4C5C"/>
                    </a:solidFill>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Dathathri et al., "Scalable watermarking for identifying large language model outputs", Nature (2024)</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doi.org/10.1038/s41586-024-08025-4</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Google DeepMind, SynthID-Text reference code</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github.com/google-deepmind/synthid-text</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Hugging Face, "Introducing SynthID Text"</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huggingface.co/blog/synthid-text</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EU AI Act, Regulation (EU) 2024/1689, Article 50</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eur-lex.europa.eu</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Kirchenbauer et al., "A Watermark for Large Language Models", ICML (2023)</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arxiv.org/abs/2301.10226</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Krishna et al., "Paraphrasing evades detectors of AI-generated text", NeurIPS (2023)</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arxiv.org/abs/2303.13408</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29184">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This lab: code, detector and lesson materials</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github.com/rsparks3/synthid-test</a:t>
                      </a:r>
                      <a:endParaRPr lang="en-US" sz="1100" dirty="0">
                        <a:latin typeface="Calibri" charset="0"/>
                        <a:ea typeface="Calibri" charset="0"/>
                        <a:cs typeface="Calibri" charset="0"/>
                      </a:endParaRPr>
                    </a:p>
                  </a:txBody>
                  <a:tcPr marL="54864" marR="54864" marT="54864" marB="54864"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4" name="Text 0"/>
          <p:cNvSpPr/>
          <p:nvPr>
            <p:ph idx="101" type="body" hasCustomPrompt="1"/>
          </p:nvPr>
        </p:nvSpPr>
        <p:spPr>
          <a:xfrm>
            <a:off x="548640" y="1143000"/>
            <a:ext cx="8046720" cy="457200"/>
          </a:xfrm>
          <a:prstGeom prst="rect">
            <a:avLst/>
          </a:prstGeom>
          <a:noFill/>
          <a:ln/>
        </p:spPr>
        <p:txBody>
          <a:bodyPr wrap="square" lIns="0" tIns="0" rIns="0" bIns="0" rtlCol="0" anchor="t"/>
          <a:lstStyle/>
          <a:p>
            <a:pPr algn="l" indent="0" marL="0">
              <a:buNone/>
            </a:pPr>
            <a:endParaRPr lang="en-US" sz="1500" dirty="0"/>
          </a:p>
        </p:txBody>
      </p:sp>
      <p:sp>
        <p:nvSpPr>
          <p:cNvPr id="5" name="Text 0"/>
          <p:cNvSpPr/>
          <p:nvPr>
            <p:ph idx="102" type="body" hasCustomPrompt="1"/>
          </p:nvPr>
        </p:nvSpPr>
        <p:spPr>
          <a:xfrm>
            <a:off x="548640" y="4434840"/>
            <a:ext cx="8046720" cy="320040"/>
          </a:xfrm>
          <a:prstGeom prst="rect">
            <a:avLst/>
          </a:prstGeom>
          <a:noFill/>
          <a:ln/>
        </p:spPr>
        <p:txBody>
          <a:bodyPr wrap="square" lIns="0" tIns="0" rIns="0" bIns="0" rtlCol="0" anchor="t"/>
          <a:lstStyle/>
          <a:p>
            <a:pPr algn="l" indent="0" marL="0">
              <a:buNone/>
            </a:pP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ynthID Lesson">
  <a:themeElements>
    <a:clrScheme name="SynthID Lesson">
      <a:dk1>
        <a:srgbClr val="1B1B1B"/>
      </a:dk1>
      <a:lt1>
        <a:srgbClr val="FFFFFF"/>
      </a:lt1>
      <a:dk2>
        <a:srgbClr val="0F4C5C"/>
      </a:dk2>
      <a:lt2>
        <a:srgbClr val="EEF3F4"/>
      </a:lt2>
      <a:accent1>
        <a:srgbClr val="0F4C5C"/>
      </a:accent1>
      <a:accent2>
        <a:srgbClr val="E36414"/>
      </a:accent2>
      <a:accent3>
        <a:srgbClr val="5F8A96"/>
      </a:accent3>
      <a:accent4>
        <a:srgbClr val="9A031E"/>
      </a:accent4>
      <a:accent5>
        <a:srgbClr val="FB8B24"/>
      </a:accent5>
      <a:accent6>
        <a:srgbClr val="4F6D7A"/>
      </a:accent6>
      <a:hlink>
        <a:srgbClr val="0F4C5C"/>
      </a:hlink>
      <a:folHlink>
        <a:srgbClr val="5F8A96"/>
      </a:folHlink>
    </a:clrScheme>
    <a:fontScheme name="SynthID Les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SynthID: the hidden signature in AI text</dc:title>
  <dc:subject>PptxGenJS Presentation</dc:subject>
  <dc:creator>SynthID classroom lab</dc:creator>
  <cp:lastModifiedBy>SynthID classroom lab</cp:lastModifiedBy>
  <cp:revision>1</cp:revision>
  <dcterms:created xsi:type="dcterms:W3CDTF">2026-10-27T04:44:28Z</dcterms:created>
  <dcterms:modified xsi:type="dcterms:W3CDTF">2026-10-27T04:44:28Z</dcterms:modified>
</cp:coreProperties>
</file>